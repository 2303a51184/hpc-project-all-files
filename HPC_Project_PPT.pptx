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93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182880"/>
            <a:ext cx="29260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π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MONTE CARLO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ESTIMATION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 Across Threads using ExecutorService in Java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286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23CS302PC303 - High Performance Computing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AI  |  SR University, Warangal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2025 - 2026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 II Semester B.Tech CSE  |  Presented by: </a:t>
            </a:r>
            <a:r>
              <a:rPr lang="en-US" sz="1100" dirty="0" err="1" smtClean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B.Sai</a:t>
            </a:r>
            <a:r>
              <a:rPr lang="en-US" sz="1100" dirty="0" smtClean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</a:t>
            </a:r>
            <a:r>
              <a:rPr lang="en-US" sz="1100" dirty="0" smtClean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Monte Carlo Method?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idea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2161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691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points estimate 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06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Computing?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speed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06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4505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926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 + Callable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40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Walkthrough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explained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1188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40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Speedup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60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don't lie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MONTE CARLO METHOD?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10972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thousands/millions of random inputs to solve problems that are hard to solve analytically.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59152"/>
            <a:ext cx="5029200" cy="10972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45059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Estimation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163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samples you use, the closer your answer gets to the true value. Accuracy ~ 1/√N.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21024"/>
            <a:ext cx="5029200" cy="10972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71246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37124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07822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Physics, AI training, Climate modelling, Drug discovery, Nuclear simulations.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097280"/>
            <a:ext cx="329184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1572768"/>
            <a:ext cx="3017520" cy="27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6916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the
</a:t>
            </a: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Casino
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Monaco, where mathematician
</a:t>
            </a: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Stanislaw Ulam
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it in </a:t>
            </a: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playing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solitaire during illness!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429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767328"/>
            <a:ext cx="29260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8130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≈ 4 × (hits inside) / 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PI ESTIMATION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200400" cy="3200400"/>
          </a:xfrm>
          <a:prstGeom prst="rect">
            <a:avLst/>
          </a:prstGeom>
          <a:solidFill>
            <a:srgbClr val="D6EAF8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00" cy="6400800"/>
          </a:xfrm>
          <a:prstGeom prst="ellipse">
            <a:avLst/>
          </a:prstGeom>
          <a:solidFill>
            <a:srgbClr val="AED6F1">
              <a:alpha val="60000"/>
            </a:srgbClr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Square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(Area = 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(Area = π/4)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4480560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62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circle  →  Hit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736592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09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circle →  Miss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051560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051560"/>
            <a:ext cx="100584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234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point (x, y)  where x,y ∈ [0,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057400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2057400"/>
            <a:ext cx="100584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x² + y² ≤ 1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inside quarter circle 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outside 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3063240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063240"/>
            <a:ext cx="100584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246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108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 times, count total hits inside circle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4069080"/>
            <a:ext cx="4937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4069080"/>
            <a:ext cx="100584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1148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 ≈  4  ×  hits /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 = More accurate!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5153837"/>
            <a:ext cx="4937760" cy="5029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50932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π/4?  Area of quarter circle (r=1) = π×1²/4 = π/4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PARALLEL COMPUTING?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More accuracy needs more samples. But more samples = SLOWER!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(1 core):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920240"/>
            <a:ext cx="731520" cy="292608"/>
          </a:xfrm>
          <a:prstGeom prst="rect">
            <a:avLst/>
          </a:prstGeom>
          <a:solidFill>
            <a:srgbClr val="FF9800">
              <a:alpha val="8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874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Million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2560320"/>
            <a:ext cx="2011680" cy="292608"/>
          </a:xfrm>
          <a:prstGeom prst="rect">
            <a:avLst/>
          </a:prstGeom>
          <a:solidFill>
            <a:srgbClr val="FF9800">
              <a:alpha val="8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Million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3200400"/>
            <a:ext cx="4114800" cy="292608"/>
          </a:xfrm>
          <a:prstGeom prst="rect">
            <a:avLst/>
          </a:prstGeom>
          <a:solidFill>
            <a:srgbClr val="FF9800">
              <a:alpha val="8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sec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Billion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3840480"/>
            <a:ext cx="6858000" cy="292608"/>
          </a:xfrm>
          <a:prstGeom prst="rect">
            <a:avLst/>
          </a:prstGeom>
          <a:solidFill>
            <a:srgbClr val="FF9800">
              <a:alpha val="8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3794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sec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 Threads 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" y="4567428"/>
            <a:ext cx="8595360" cy="502920"/>
          </a:xfrm>
          <a:prstGeom prst="rect">
            <a:avLst/>
          </a:prstGeom>
          <a:solidFill>
            <a:srgbClr val="0A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823" y="45850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sample point is INDEPENDENT  →  No thread needs to wait for another  →  Embarrassingly Parallel!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73736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554480"/>
            <a:ext cx="32004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4447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82880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88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parallelPi()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6276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2004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4447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097280"/>
            <a:ext cx="182880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188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6276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threads)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32004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14447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097280"/>
            <a:ext cx="173736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MonteCarloTask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1627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Callable&lt;Long&gt;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thread)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423160"/>
            <a:ext cx="2743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Callable&lt;Long&gt;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value (unlike Runnable)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runs call() method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points inside the circle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Long (inside count)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423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423160"/>
            <a:ext cx="2743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ExecutorService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manager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newFixedThreadPool(cores)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 sends tasks to threads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shutdown() closes pool cleanly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423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423160"/>
            <a:ext cx="2743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Future&lt;Long&gt;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5508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for result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future.get() waits &amp; retrieves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until thread finishes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all futures = final Pi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1206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thread: generate points, count hits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31216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MonteCarloTask implements Callable&lt;Long&gt; {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54533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 rng = new Random(seed);  // unique!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785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insideCount = 0;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(long i = 0; i &lt; samples; i++) {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448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x = rng.nextDouble();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y = rng.nextDouble();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71119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(x*x + y*y &lt;= 1.0) insideCount++;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4436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7754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insideCount;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41071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64388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87705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submit tasks, collect results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11022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pool.submit(new MonteCarloTask(n, seed));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totalInside += future.get();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57657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4.0 * totalInside / totalSamples;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005840"/>
            <a:ext cx="3337560" cy="8686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0789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26480" y="10698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Seeds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14173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gets seed = 42 + t×1000. No shared state, no lock, no correlation.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993392"/>
            <a:ext cx="3337560" cy="8686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206654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4048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never talk to each other during computation. Pure parallel speed.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2980944"/>
            <a:ext cx="3337560" cy="8686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23560" y="305409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30449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339242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future.get() collects each thread's count. Sum all → compute Pi.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968496"/>
            <a:ext cx="3337560" cy="868680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404164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26480" y="403250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437997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parallel Pi vs sequential Pi. Both must match to 5+ decimal places.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SPEEDUP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146304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146304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128016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0241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18288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0241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813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463040"/>
            <a:ext cx="146304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481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1463040"/>
            <a:ext cx="146304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481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463040"/>
            <a:ext cx="128016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4813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1463040"/>
            <a:ext cx="182880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4813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3.14159200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938528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568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1938528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9568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49040" y="1938528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9568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938528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9568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7.07x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193852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3.14162440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414016"/>
            <a:ext cx="201168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4323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100,000,000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2414016"/>
            <a:ext cx="146304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432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4,823 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2414016"/>
            <a:ext cx="146304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432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 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414016"/>
            <a:ext cx="128016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43230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7.61x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92240" y="2414016"/>
            <a:ext cx="1828800" cy="457200"/>
          </a:xfrm>
          <a:prstGeom prst="rect">
            <a:avLst/>
          </a:prstGeom>
          <a:solidFill>
            <a:srgbClr val="DEEAF1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4323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3.14159012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889504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9077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1,000,000,000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288950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907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48,210 ms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49040" y="288950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2907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6,187 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12080" y="2889504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290779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7.79x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92240" y="2889504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29077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3.14159247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356616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7.79×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457200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Billion samples)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83280" y="356616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8328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3200" dirty="0"/>
          </a:p>
        </p:txBody>
      </p:sp>
      <p:sp>
        <p:nvSpPr>
          <p:cNvPr id="59" name="Text 57"/>
          <p:cNvSpPr/>
          <p:nvPr/>
        </p:nvSpPr>
        <p:spPr>
          <a:xfrm>
            <a:off x="3383280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Efficiency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8 cores)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309360" y="356616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30936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3.14159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6309360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(matches to 5 decimals)</a:t>
            </a: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FROM THIS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0" cy="7132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 Problems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99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tasks are fully independent, parallelism is easy and speedup is near-linear. Monte Carlo is a perfect example.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10512"/>
            <a:ext cx="640080" cy="7132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751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Random Numbers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037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a Random object between threads. Use unique seeds per thread to get correct, independent results.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15184"/>
            <a:ext cx="640080" cy="7132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79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679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 is Powerful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083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Java's thread pool manages thread lifecycle, load balancing, and result collection cleanly via Callable + Future.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9856"/>
            <a:ext cx="640080" cy="7132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483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Speed Trade-off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8130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samples = better Pi accuracy but more time. Parallelism lets you get BOTH — more samples, same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24528"/>
            <a:ext cx="640080" cy="7132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288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Has Limits (Amdahl's Law)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6177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creation overhead and memory limits cap speedup below 8× on 8 cores. We achieved 7.79× = 97.4% efficiency.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91440"/>
            <a:ext cx="3840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</a:rPr>
              <a:t>π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5200" b="1" kern="0" spc="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YOU…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5077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 ≈  3.14159265358979...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286000" cy="45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Monte Carlo Pi Estimation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23CS302PC303 · High Performance Computing · SR University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</TotalTime>
  <Words>913</Words>
  <Application>Microsoft Office PowerPoint</Application>
  <PresentationFormat>On-screen Show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Monte Carlo Pi Estimation</dc:title>
  <dc:subject>PptxGenJS Presentation</dc:subject>
  <dc:creator>PptxGenJS</dc:creator>
  <cp:lastModifiedBy>varshith</cp:lastModifiedBy>
  <cp:revision>4</cp:revision>
  <dcterms:created xsi:type="dcterms:W3CDTF">2026-03-18T14:55:41Z</dcterms:created>
  <dcterms:modified xsi:type="dcterms:W3CDTF">2026-03-18T16:27:49Z</dcterms:modified>
</cp:coreProperties>
</file>